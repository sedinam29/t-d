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344" r:id="rId5"/>
    <p:sldId id="343" r:id="rId6"/>
    <p:sldId id="354" r:id="rId7"/>
    <p:sldId id="356" r:id="rId8"/>
    <p:sldId id="355" r:id="rId9"/>
    <p:sldId id="34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35D"/>
    <a:srgbClr val="F9E0B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6A6A63-CF3D-45B1-9E01-81FB046DCA05}" v="2" dt="2025-04-18T16:44:59.654"/>
  </p1510:revLst>
</p1510:revInfo>
</file>

<file path=ppt/tableStyles.xml><?xml version="1.0" encoding="utf-8"?>
<a:tblStyleLst xmlns:a="http://schemas.openxmlformats.org/drawingml/2006/main" def="{1E171933-4619-4E11-9A3F-F7608DF75F80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274" y="2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552BEE-B5E5-4E17-8678-77BDB3033C46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512F2C04-09BE-475F-A2E6-F78C73636135}">
      <dgm:prSet phldrT="[Text]" phldr="0"/>
      <dgm:spPr/>
      <dgm:t>
        <a:bodyPr/>
        <a:lstStyle/>
        <a:p>
          <a:pPr>
            <a:defRPr b="1"/>
          </a:pPr>
          <a:r>
            <a:rPr lang="en-US">
              <a:latin typeface="Century Gothic" panose="020B0502020202020204"/>
            </a:rPr>
            <a:t>To identify Baseline Skills </a:t>
          </a:r>
        </a:p>
      </dgm:t>
    </dgm:pt>
    <dgm:pt modelId="{767086EF-99F6-4121-BBC4-378CAD59111E}" type="parTrans" cxnId="{F876DD85-1B59-43FD-A795-4981B64F3ECA}">
      <dgm:prSet/>
      <dgm:spPr/>
      <dgm:t>
        <a:bodyPr/>
        <a:lstStyle/>
        <a:p>
          <a:endParaRPr lang="en-US"/>
        </a:p>
      </dgm:t>
    </dgm:pt>
    <dgm:pt modelId="{50577160-C6DC-46C5-B941-2CCAD54E03F8}" type="sibTrans" cxnId="{F876DD85-1B59-43FD-A795-4981B64F3ECA}">
      <dgm:prSet/>
      <dgm:spPr/>
      <dgm:t>
        <a:bodyPr/>
        <a:lstStyle/>
        <a:p>
          <a:endParaRPr lang="en-US"/>
        </a:p>
      </dgm:t>
    </dgm:pt>
    <dgm:pt modelId="{FDD6161E-BD33-41CE-ACB7-B0496E89EF14}">
      <dgm:prSet phldrT="[Text]" phldr="0"/>
      <dgm:spPr/>
      <dgm:t>
        <a:bodyPr/>
        <a:lstStyle/>
        <a:p>
          <a:pPr>
            <a:defRPr b="1"/>
          </a:pPr>
          <a:r>
            <a:rPr lang="en-US">
              <a:latin typeface="Century Gothic" panose="020B0502020202020204"/>
            </a:rPr>
            <a:t>Highlighting Areas of Improvement</a:t>
          </a:r>
        </a:p>
      </dgm:t>
    </dgm:pt>
    <dgm:pt modelId="{1BF0FE32-0F81-46C7-B638-93D80C3A14C0}" type="parTrans" cxnId="{B3FF885A-D250-4E37-A7C3-FEEF015A07DE}">
      <dgm:prSet/>
      <dgm:spPr/>
      <dgm:t>
        <a:bodyPr/>
        <a:lstStyle/>
        <a:p>
          <a:endParaRPr lang="en-US"/>
        </a:p>
      </dgm:t>
    </dgm:pt>
    <dgm:pt modelId="{951F64D7-F9A2-4CC3-8A18-128036BE1248}" type="sibTrans" cxnId="{B3FF885A-D250-4E37-A7C3-FEEF015A07DE}">
      <dgm:prSet/>
      <dgm:spPr/>
      <dgm:t>
        <a:bodyPr/>
        <a:lstStyle/>
        <a:p>
          <a:endParaRPr lang="en-US"/>
        </a:p>
      </dgm:t>
    </dgm:pt>
    <dgm:pt modelId="{F725BDAC-9F82-40AE-B58F-87F56A98DA16}">
      <dgm:prSet phldrT="[Text]" phldr="0"/>
      <dgm:spPr/>
      <dgm:t>
        <a:bodyPr/>
        <a:lstStyle/>
        <a:p>
          <a:pPr>
            <a:defRPr b="1"/>
          </a:pPr>
          <a:r>
            <a:rPr lang="en-US">
              <a:latin typeface="Century Gothic" panose="020B0502020202020204"/>
            </a:rPr>
            <a:t>Monitor Progress</a:t>
          </a:r>
        </a:p>
      </dgm:t>
    </dgm:pt>
    <dgm:pt modelId="{DEEFDB81-9878-42C4-BA44-481486478675}" type="parTrans" cxnId="{D5895AFC-04DC-4E94-874E-C73077E1FE7A}">
      <dgm:prSet/>
      <dgm:spPr/>
      <dgm:t>
        <a:bodyPr/>
        <a:lstStyle/>
        <a:p>
          <a:endParaRPr lang="en-US"/>
        </a:p>
      </dgm:t>
    </dgm:pt>
    <dgm:pt modelId="{C210F1B6-CE6A-47E0-8A50-6451F6D13219}" type="sibTrans" cxnId="{D5895AFC-04DC-4E94-874E-C73077E1FE7A}">
      <dgm:prSet/>
      <dgm:spPr/>
      <dgm:t>
        <a:bodyPr/>
        <a:lstStyle/>
        <a:p>
          <a:endParaRPr lang="en-US"/>
        </a:p>
      </dgm:t>
    </dgm:pt>
    <dgm:pt modelId="{9B6D593F-4E9F-4D77-BE35-507DA467EA01}">
      <dgm:prSet phldr="0"/>
      <dgm:spPr/>
      <dgm:t>
        <a:bodyPr/>
        <a:lstStyle/>
        <a:p>
          <a:r>
            <a:rPr lang="en-US">
              <a:latin typeface="Century Gothic" panose="020B0502020202020204"/>
            </a:rPr>
            <a:t>To provide a reference point for evaluating the trainee's progress over the course of the training program</a:t>
          </a:r>
          <a:endParaRPr lang="en-US"/>
        </a:p>
      </dgm:t>
    </dgm:pt>
    <dgm:pt modelId="{6CD0C8B5-5768-4525-A1DB-57BB54AEBAD0}" type="parTrans" cxnId="{BF66CC3F-7C05-4E2A-9061-A0205253E839}">
      <dgm:prSet/>
      <dgm:spPr/>
    </dgm:pt>
    <dgm:pt modelId="{B49E34F0-9166-477D-A334-401A62C6EB8F}" type="sibTrans" cxnId="{BF66CC3F-7C05-4E2A-9061-A0205253E839}">
      <dgm:prSet/>
      <dgm:spPr/>
      <dgm:t>
        <a:bodyPr/>
        <a:lstStyle/>
        <a:p>
          <a:endParaRPr lang="en-US"/>
        </a:p>
      </dgm:t>
    </dgm:pt>
    <dgm:pt modelId="{D6A7A263-8913-4294-BC8F-C8930ABCDC64}">
      <dgm:prSet phldr="0"/>
      <dgm:spPr/>
      <dgm:t>
        <a:bodyPr/>
        <a:lstStyle/>
        <a:p>
          <a:r>
            <a:rPr lang="en-US">
              <a:latin typeface="Century Gothic" panose="020B0502020202020204"/>
            </a:rPr>
            <a:t>This is to allow trainees an opportunity to reflect on their knowledge and to pinpoint specific areas where they feel less confident or competent, allowing for targeted training outcomes</a:t>
          </a:r>
          <a:endParaRPr lang="en-US"/>
        </a:p>
      </dgm:t>
    </dgm:pt>
    <dgm:pt modelId="{2830C838-C16D-4001-834B-36AADE6D69C6}" type="parTrans" cxnId="{02736EF2-31AD-4FAA-BF9D-42C7EC44DD8C}">
      <dgm:prSet/>
      <dgm:spPr/>
    </dgm:pt>
    <dgm:pt modelId="{91FC6D89-2125-415A-B364-E57ECA87C657}" type="sibTrans" cxnId="{02736EF2-31AD-4FAA-BF9D-42C7EC44DD8C}">
      <dgm:prSet/>
      <dgm:spPr/>
      <dgm:t>
        <a:bodyPr/>
        <a:lstStyle/>
        <a:p>
          <a:endParaRPr lang="en-US"/>
        </a:p>
      </dgm:t>
    </dgm:pt>
    <dgm:pt modelId="{F07BF4BB-84B4-41DF-94E3-83E806153666}">
      <dgm:prSet phldr="0"/>
      <dgm:spPr/>
      <dgm:t>
        <a:bodyPr/>
        <a:lstStyle/>
        <a:p>
          <a:r>
            <a:rPr lang="en-US">
              <a:latin typeface="Century Gothic" panose="020B0502020202020204"/>
            </a:rPr>
            <a:t>We want to gauge the current proficiency levels of the interns in various aspects of professional communication</a:t>
          </a:r>
          <a:endParaRPr lang="en-US"/>
        </a:p>
      </dgm:t>
    </dgm:pt>
    <dgm:pt modelId="{D8020484-D550-4E25-99EE-8B24DF58F54A}" type="parTrans" cxnId="{4735434C-0A97-437C-B4F7-DAED3D5AAA5A}">
      <dgm:prSet/>
      <dgm:spPr/>
    </dgm:pt>
    <dgm:pt modelId="{D1A85C7E-32DF-4FCB-B5C1-9BFD011CEDCF}" type="sibTrans" cxnId="{4735434C-0A97-437C-B4F7-DAED3D5AAA5A}">
      <dgm:prSet/>
      <dgm:spPr/>
      <dgm:t>
        <a:bodyPr/>
        <a:lstStyle/>
        <a:p>
          <a:endParaRPr lang="en-US"/>
        </a:p>
      </dgm:t>
    </dgm:pt>
    <dgm:pt modelId="{1FB1F5AF-C0C9-4E65-801A-4293E4F9CF6F}" type="pres">
      <dgm:prSet presAssocID="{C3552BEE-B5E5-4E17-8678-77BDB3033C46}" presName="root" presStyleCnt="0">
        <dgm:presLayoutVars>
          <dgm:dir/>
          <dgm:resizeHandles val="exact"/>
        </dgm:presLayoutVars>
      </dgm:prSet>
      <dgm:spPr/>
    </dgm:pt>
    <dgm:pt modelId="{78926CE1-FC80-41F7-8EEA-3636A457CFAB}" type="pres">
      <dgm:prSet presAssocID="{512F2C04-09BE-475F-A2E6-F78C73636135}" presName="compNode" presStyleCnt="0"/>
      <dgm:spPr/>
    </dgm:pt>
    <dgm:pt modelId="{A8E8356B-9528-4DCB-8C9E-60934911B112}" type="pres">
      <dgm:prSet presAssocID="{512F2C04-09BE-475F-A2E6-F78C7363613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1CED605-11D5-4F1C-ACBE-52AD08AE2422}" type="pres">
      <dgm:prSet presAssocID="{512F2C04-09BE-475F-A2E6-F78C73636135}" presName="iconSpace" presStyleCnt="0"/>
      <dgm:spPr/>
    </dgm:pt>
    <dgm:pt modelId="{DF29EAC5-F4BC-4FCA-951A-AF6B52DAEB59}" type="pres">
      <dgm:prSet presAssocID="{512F2C04-09BE-475F-A2E6-F78C73636135}" presName="parTx" presStyleLbl="revTx" presStyleIdx="0" presStyleCnt="6">
        <dgm:presLayoutVars>
          <dgm:chMax val="0"/>
          <dgm:chPref val="0"/>
        </dgm:presLayoutVars>
      </dgm:prSet>
      <dgm:spPr/>
    </dgm:pt>
    <dgm:pt modelId="{01EC0188-19A6-465A-A48F-144DF1D4B0A2}" type="pres">
      <dgm:prSet presAssocID="{512F2C04-09BE-475F-A2E6-F78C73636135}" presName="txSpace" presStyleCnt="0"/>
      <dgm:spPr/>
    </dgm:pt>
    <dgm:pt modelId="{C0767A0A-64EF-458F-AE31-DC50A0F84DEF}" type="pres">
      <dgm:prSet presAssocID="{512F2C04-09BE-475F-A2E6-F78C73636135}" presName="desTx" presStyleLbl="revTx" presStyleIdx="1" presStyleCnt="6">
        <dgm:presLayoutVars/>
      </dgm:prSet>
      <dgm:spPr/>
    </dgm:pt>
    <dgm:pt modelId="{8CAA1E5F-D735-451E-AB9F-5940A35560B5}" type="pres">
      <dgm:prSet presAssocID="{50577160-C6DC-46C5-B941-2CCAD54E03F8}" presName="sibTrans" presStyleCnt="0"/>
      <dgm:spPr/>
    </dgm:pt>
    <dgm:pt modelId="{E0C89F40-59D1-4648-99E4-0E7198C312B9}" type="pres">
      <dgm:prSet presAssocID="{FDD6161E-BD33-41CE-ACB7-B0496E89EF14}" presName="compNode" presStyleCnt="0"/>
      <dgm:spPr/>
    </dgm:pt>
    <dgm:pt modelId="{E87D60C5-D224-458D-9045-9E099A83A245}" type="pres">
      <dgm:prSet presAssocID="{FDD6161E-BD33-41CE-ACB7-B0496E89EF1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1E6A9F67-D00D-4073-8190-A9ACE0AA8D2F}" type="pres">
      <dgm:prSet presAssocID="{FDD6161E-BD33-41CE-ACB7-B0496E89EF14}" presName="iconSpace" presStyleCnt="0"/>
      <dgm:spPr/>
    </dgm:pt>
    <dgm:pt modelId="{6F1E68AC-B214-491C-A6D9-4AABD4E041EC}" type="pres">
      <dgm:prSet presAssocID="{FDD6161E-BD33-41CE-ACB7-B0496E89EF14}" presName="parTx" presStyleLbl="revTx" presStyleIdx="2" presStyleCnt="6">
        <dgm:presLayoutVars>
          <dgm:chMax val="0"/>
          <dgm:chPref val="0"/>
        </dgm:presLayoutVars>
      </dgm:prSet>
      <dgm:spPr/>
    </dgm:pt>
    <dgm:pt modelId="{DF734E59-DE8F-4F5B-BDE1-53A0F58AA01C}" type="pres">
      <dgm:prSet presAssocID="{FDD6161E-BD33-41CE-ACB7-B0496E89EF14}" presName="txSpace" presStyleCnt="0"/>
      <dgm:spPr/>
    </dgm:pt>
    <dgm:pt modelId="{EE294F2C-3E34-40DD-AB3A-8AB8A0C1260F}" type="pres">
      <dgm:prSet presAssocID="{FDD6161E-BD33-41CE-ACB7-B0496E89EF14}" presName="desTx" presStyleLbl="revTx" presStyleIdx="3" presStyleCnt="6">
        <dgm:presLayoutVars/>
      </dgm:prSet>
      <dgm:spPr/>
    </dgm:pt>
    <dgm:pt modelId="{03FCCCC6-B935-4F98-9D93-8D83A5332777}" type="pres">
      <dgm:prSet presAssocID="{951F64D7-F9A2-4CC3-8A18-128036BE1248}" presName="sibTrans" presStyleCnt="0"/>
      <dgm:spPr/>
    </dgm:pt>
    <dgm:pt modelId="{36441B44-8E7F-4357-999C-B2355B70008A}" type="pres">
      <dgm:prSet presAssocID="{F725BDAC-9F82-40AE-B58F-87F56A98DA16}" presName="compNode" presStyleCnt="0"/>
      <dgm:spPr/>
    </dgm:pt>
    <dgm:pt modelId="{0E7E843F-FBE9-41EE-9341-87C26DE7B32C}" type="pres">
      <dgm:prSet presAssocID="{F725BDAC-9F82-40AE-B58F-87F56A98DA1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D615513B-5C07-4F99-A181-56C02B75375D}" type="pres">
      <dgm:prSet presAssocID="{F725BDAC-9F82-40AE-B58F-87F56A98DA16}" presName="iconSpace" presStyleCnt="0"/>
      <dgm:spPr/>
    </dgm:pt>
    <dgm:pt modelId="{AD93F972-250B-4856-9319-6E2E940A8AB6}" type="pres">
      <dgm:prSet presAssocID="{F725BDAC-9F82-40AE-B58F-87F56A98DA16}" presName="parTx" presStyleLbl="revTx" presStyleIdx="4" presStyleCnt="6">
        <dgm:presLayoutVars>
          <dgm:chMax val="0"/>
          <dgm:chPref val="0"/>
        </dgm:presLayoutVars>
      </dgm:prSet>
      <dgm:spPr/>
    </dgm:pt>
    <dgm:pt modelId="{EBC4EFB2-52C5-4274-8347-0AD1C0075B5E}" type="pres">
      <dgm:prSet presAssocID="{F725BDAC-9F82-40AE-B58F-87F56A98DA16}" presName="txSpace" presStyleCnt="0"/>
      <dgm:spPr/>
    </dgm:pt>
    <dgm:pt modelId="{A37B4B47-855B-46EA-A8D6-B4E0831FD9BA}" type="pres">
      <dgm:prSet presAssocID="{F725BDAC-9F82-40AE-B58F-87F56A98DA16}" presName="desTx" presStyleLbl="revTx" presStyleIdx="5" presStyleCnt="6">
        <dgm:presLayoutVars/>
      </dgm:prSet>
      <dgm:spPr/>
    </dgm:pt>
  </dgm:ptLst>
  <dgm:cxnLst>
    <dgm:cxn modelId="{99915936-DA59-4235-8A20-6D2222392929}" type="presOf" srcId="{9B6D593F-4E9F-4D77-BE35-507DA467EA01}" destId="{A37B4B47-855B-46EA-A8D6-B4E0831FD9BA}" srcOrd="0" destOrd="0" presId="urn:microsoft.com/office/officeart/2018/2/layout/IconLabelDescriptionList"/>
    <dgm:cxn modelId="{BF66CC3F-7C05-4E2A-9061-A0205253E839}" srcId="{F725BDAC-9F82-40AE-B58F-87F56A98DA16}" destId="{9B6D593F-4E9F-4D77-BE35-507DA467EA01}" srcOrd="0" destOrd="0" parTransId="{6CD0C8B5-5768-4525-A1DB-57BB54AEBAD0}" sibTransId="{B49E34F0-9166-477D-A334-401A62C6EB8F}"/>
    <dgm:cxn modelId="{347A175F-4FF3-43F2-AA42-432E87162F54}" type="presOf" srcId="{F725BDAC-9F82-40AE-B58F-87F56A98DA16}" destId="{AD93F972-250B-4856-9319-6E2E940A8AB6}" srcOrd="0" destOrd="0" presId="urn:microsoft.com/office/officeart/2018/2/layout/IconLabelDescriptionList"/>
    <dgm:cxn modelId="{4735434C-0A97-437C-B4F7-DAED3D5AAA5A}" srcId="{512F2C04-09BE-475F-A2E6-F78C73636135}" destId="{F07BF4BB-84B4-41DF-94E3-83E806153666}" srcOrd="0" destOrd="0" parTransId="{D8020484-D550-4E25-99EE-8B24DF58F54A}" sibTransId="{D1A85C7E-32DF-4FCB-B5C1-9BFD011CEDCF}"/>
    <dgm:cxn modelId="{15A9657A-643C-48D2-86CC-88826A3625F0}" type="presOf" srcId="{F07BF4BB-84B4-41DF-94E3-83E806153666}" destId="{C0767A0A-64EF-458F-AE31-DC50A0F84DEF}" srcOrd="0" destOrd="0" presId="urn:microsoft.com/office/officeart/2018/2/layout/IconLabelDescriptionList"/>
    <dgm:cxn modelId="{B3FF885A-D250-4E37-A7C3-FEEF015A07DE}" srcId="{C3552BEE-B5E5-4E17-8678-77BDB3033C46}" destId="{FDD6161E-BD33-41CE-ACB7-B0496E89EF14}" srcOrd="1" destOrd="0" parTransId="{1BF0FE32-0F81-46C7-B638-93D80C3A14C0}" sibTransId="{951F64D7-F9A2-4CC3-8A18-128036BE1248}"/>
    <dgm:cxn modelId="{F876DD85-1B59-43FD-A795-4981B64F3ECA}" srcId="{C3552BEE-B5E5-4E17-8678-77BDB3033C46}" destId="{512F2C04-09BE-475F-A2E6-F78C73636135}" srcOrd="0" destOrd="0" parTransId="{767086EF-99F6-4121-BBC4-378CAD59111E}" sibTransId="{50577160-C6DC-46C5-B941-2CCAD54E03F8}"/>
    <dgm:cxn modelId="{87007FB9-E075-4A32-8AB0-46478E40425A}" type="presOf" srcId="{D6A7A263-8913-4294-BC8F-C8930ABCDC64}" destId="{EE294F2C-3E34-40DD-AB3A-8AB8A0C1260F}" srcOrd="0" destOrd="0" presId="urn:microsoft.com/office/officeart/2018/2/layout/IconLabelDescriptionList"/>
    <dgm:cxn modelId="{27B14DD3-3E7F-4508-A2B4-3E2DB158B803}" type="presOf" srcId="{C3552BEE-B5E5-4E17-8678-77BDB3033C46}" destId="{1FB1F5AF-C0C9-4E65-801A-4293E4F9CF6F}" srcOrd="0" destOrd="0" presId="urn:microsoft.com/office/officeart/2018/2/layout/IconLabelDescriptionList"/>
    <dgm:cxn modelId="{4266E6D5-1D32-4DD7-AC48-FBF5FD6D7262}" type="presOf" srcId="{512F2C04-09BE-475F-A2E6-F78C73636135}" destId="{DF29EAC5-F4BC-4FCA-951A-AF6B52DAEB59}" srcOrd="0" destOrd="0" presId="urn:microsoft.com/office/officeart/2018/2/layout/IconLabelDescriptionList"/>
    <dgm:cxn modelId="{676F78F0-2268-43EE-9A43-18EED0E25FE1}" type="presOf" srcId="{FDD6161E-BD33-41CE-ACB7-B0496E89EF14}" destId="{6F1E68AC-B214-491C-A6D9-4AABD4E041EC}" srcOrd="0" destOrd="0" presId="urn:microsoft.com/office/officeart/2018/2/layout/IconLabelDescriptionList"/>
    <dgm:cxn modelId="{02736EF2-31AD-4FAA-BF9D-42C7EC44DD8C}" srcId="{FDD6161E-BD33-41CE-ACB7-B0496E89EF14}" destId="{D6A7A263-8913-4294-BC8F-C8930ABCDC64}" srcOrd="0" destOrd="0" parTransId="{2830C838-C16D-4001-834B-36AADE6D69C6}" sibTransId="{91FC6D89-2125-415A-B364-E57ECA87C657}"/>
    <dgm:cxn modelId="{D5895AFC-04DC-4E94-874E-C73077E1FE7A}" srcId="{C3552BEE-B5E5-4E17-8678-77BDB3033C46}" destId="{F725BDAC-9F82-40AE-B58F-87F56A98DA16}" srcOrd="2" destOrd="0" parTransId="{DEEFDB81-9878-42C4-BA44-481486478675}" sibTransId="{C210F1B6-CE6A-47E0-8A50-6451F6D13219}"/>
    <dgm:cxn modelId="{E458E679-B29F-44D5-9539-BBA143BF646B}" type="presParOf" srcId="{1FB1F5AF-C0C9-4E65-801A-4293E4F9CF6F}" destId="{78926CE1-FC80-41F7-8EEA-3636A457CFAB}" srcOrd="0" destOrd="0" presId="urn:microsoft.com/office/officeart/2018/2/layout/IconLabelDescriptionList"/>
    <dgm:cxn modelId="{5A048D03-AF46-4368-B2C7-A0407CEFC723}" type="presParOf" srcId="{78926CE1-FC80-41F7-8EEA-3636A457CFAB}" destId="{A8E8356B-9528-4DCB-8C9E-60934911B112}" srcOrd="0" destOrd="0" presId="urn:microsoft.com/office/officeart/2018/2/layout/IconLabelDescriptionList"/>
    <dgm:cxn modelId="{322E0EC7-89B2-4527-9C04-67E425FEFBE7}" type="presParOf" srcId="{78926CE1-FC80-41F7-8EEA-3636A457CFAB}" destId="{E1CED605-11D5-4F1C-ACBE-52AD08AE2422}" srcOrd="1" destOrd="0" presId="urn:microsoft.com/office/officeart/2018/2/layout/IconLabelDescriptionList"/>
    <dgm:cxn modelId="{F0DF08BF-91ED-4BC2-A013-6D1A24FBE9AC}" type="presParOf" srcId="{78926CE1-FC80-41F7-8EEA-3636A457CFAB}" destId="{DF29EAC5-F4BC-4FCA-951A-AF6B52DAEB59}" srcOrd="2" destOrd="0" presId="urn:microsoft.com/office/officeart/2018/2/layout/IconLabelDescriptionList"/>
    <dgm:cxn modelId="{ED900EF9-AE05-4434-B5D8-006A1DD4E9E2}" type="presParOf" srcId="{78926CE1-FC80-41F7-8EEA-3636A457CFAB}" destId="{01EC0188-19A6-465A-A48F-144DF1D4B0A2}" srcOrd="3" destOrd="0" presId="urn:microsoft.com/office/officeart/2018/2/layout/IconLabelDescriptionList"/>
    <dgm:cxn modelId="{31C8055A-2177-4666-9FB1-BD1C3EDC0B8E}" type="presParOf" srcId="{78926CE1-FC80-41F7-8EEA-3636A457CFAB}" destId="{C0767A0A-64EF-458F-AE31-DC50A0F84DEF}" srcOrd="4" destOrd="0" presId="urn:microsoft.com/office/officeart/2018/2/layout/IconLabelDescriptionList"/>
    <dgm:cxn modelId="{5BEA8F19-92FC-473D-922D-57254198224C}" type="presParOf" srcId="{1FB1F5AF-C0C9-4E65-801A-4293E4F9CF6F}" destId="{8CAA1E5F-D735-451E-AB9F-5940A35560B5}" srcOrd="1" destOrd="0" presId="urn:microsoft.com/office/officeart/2018/2/layout/IconLabelDescriptionList"/>
    <dgm:cxn modelId="{46CC4F8E-4F8C-4667-BA06-7FB584E60A05}" type="presParOf" srcId="{1FB1F5AF-C0C9-4E65-801A-4293E4F9CF6F}" destId="{E0C89F40-59D1-4648-99E4-0E7198C312B9}" srcOrd="2" destOrd="0" presId="urn:microsoft.com/office/officeart/2018/2/layout/IconLabelDescriptionList"/>
    <dgm:cxn modelId="{793919E4-15E4-404C-A403-6FD551B464CC}" type="presParOf" srcId="{E0C89F40-59D1-4648-99E4-0E7198C312B9}" destId="{E87D60C5-D224-458D-9045-9E099A83A245}" srcOrd="0" destOrd="0" presId="urn:microsoft.com/office/officeart/2018/2/layout/IconLabelDescriptionList"/>
    <dgm:cxn modelId="{960DF204-BE0F-4030-AFDE-077A95D48A80}" type="presParOf" srcId="{E0C89F40-59D1-4648-99E4-0E7198C312B9}" destId="{1E6A9F67-D00D-4073-8190-A9ACE0AA8D2F}" srcOrd="1" destOrd="0" presId="urn:microsoft.com/office/officeart/2018/2/layout/IconLabelDescriptionList"/>
    <dgm:cxn modelId="{10390D25-11A2-4195-8347-55D1E6522473}" type="presParOf" srcId="{E0C89F40-59D1-4648-99E4-0E7198C312B9}" destId="{6F1E68AC-B214-491C-A6D9-4AABD4E041EC}" srcOrd="2" destOrd="0" presId="urn:microsoft.com/office/officeart/2018/2/layout/IconLabelDescriptionList"/>
    <dgm:cxn modelId="{57BAEA03-405B-42C1-8C8E-8A13E263736A}" type="presParOf" srcId="{E0C89F40-59D1-4648-99E4-0E7198C312B9}" destId="{DF734E59-DE8F-4F5B-BDE1-53A0F58AA01C}" srcOrd="3" destOrd="0" presId="urn:microsoft.com/office/officeart/2018/2/layout/IconLabelDescriptionList"/>
    <dgm:cxn modelId="{FCC8ACE5-3831-4656-A97D-E467489EA822}" type="presParOf" srcId="{E0C89F40-59D1-4648-99E4-0E7198C312B9}" destId="{EE294F2C-3E34-40DD-AB3A-8AB8A0C1260F}" srcOrd="4" destOrd="0" presId="urn:microsoft.com/office/officeart/2018/2/layout/IconLabelDescriptionList"/>
    <dgm:cxn modelId="{455E7864-A900-44D8-BFEE-D115A934DD8A}" type="presParOf" srcId="{1FB1F5AF-C0C9-4E65-801A-4293E4F9CF6F}" destId="{03FCCCC6-B935-4F98-9D93-8D83A5332777}" srcOrd="3" destOrd="0" presId="urn:microsoft.com/office/officeart/2018/2/layout/IconLabelDescriptionList"/>
    <dgm:cxn modelId="{C6D35D12-0BB7-487C-BFCF-8E9D9D5DA52D}" type="presParOf" srcId="{1FB1F5AF-C0C9-4E65-801A-4293E4F9CF6F}" destId="{36441B44-8E7F-4357-999C-B2355B70008A}" srcOrd="4" destOrd="0" presId="urn:microsoft.com/office/officeart/2018/2/layout/IconLabelDescriptionList"/>
    <dgm:cxn modelId="{D0DF97C5-8ECB-475C-BC0B-995C5C4AC52D}" type="presParOf" srcId="{36441B44-8E7F-4357-999C-B2355B70008A}" destId="{0E7E843F-FBE9-41EE-9341-87C26DE7B32C}" srcOrd="0" destOrd="0" presId="urn:microsoft.com/office/officeart/2018/2/layout/IconLabelDescriptionList"/>
    <dgm:cxn modelId="{931F44E6-2ABD-4B94-ACC7-040C8518C081}" type="presParOf" srcId="{36441B44-8E7F-4357-999C-B2355B70008A}" destId="{D615513B-5C07-4F99-A181-56C02B75375D}" srcOrd="1" destOrd="0" presId="urn:microsoft.com/office/officeart/2018/2/layout/IconLabelDescriptionList"/>
    <dgm:cxn modelId="{01841C1F-B786-4BE8-8051-87D38E09720A}" type="presParOf" srcId="{36441B44-8E7F-4357-999C-B2355B70008A}" destId="{AD93F972-250B-4856-9319-6E2E940A8AB6}" srcOrd="2" destOrd="0" presId="urn:microsoft.com/office/officeart/2018/2/layout/IconLabelDescriptionList"/>
    <dgm:cxn modelId="{51DE7D32-4A63-4D60-B88D-3849307DF26F}" type="presParOf" srcId="{36441B44-8E7F-4357-999C-B2355B70008A}" destId="{EBC4EFB2-52C5-4274-8347-0AD1C0075B5E}" srcOrd="3" destOrd="0" presId="urn:microsoft.com/office/officeart/2018/2/layout/IconLabelDescriptionList"/>
    <dgm:cxn modelId="{1961D74F-5246-4A17-A09B-23D63E5B426A}" type="presParOf" srcId="{36441B44-8E7F-4357-999C-B2355B70008A}" destId="{A37B4B47-855B-46EA-A8D6-B4E0831FD9BA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3552BEE-B5E5-4E17-8678-77BDB3033C46}" type="doc">
      <dgm:prSet loTypeId="urn:microsoft.com/office/officeart/2005/8/layout/pyramid2" loCatId="pyramid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9B6D593F-4E9F-4D77-BE35-507DA467EA01}">
      <dgm:prSet phldr="0"/>
      <dgm:spPr/>
      <dgm:t>
        <a:bodyPr/>
        <a:lstStyle/>
        <a:p>
          <a:pPr rtl="0"/>
          <a:r>
            <a:rPr lang="en-US" b="0">
              <a:latin typeface="Century Gothic" panose="020B0502020202020204"/>
            </a:rPr>
            <a:t> By</a:t>
          </a:r>
          <a:r>
            <a:rPr lang="en-US" b="0"/>
            <a:t> comparing post-test results with pre-test data, we can analyze growth, identify areas of improvement, and determine the overall impact of the training on workplace behavior.</a:t>
          </a:r>
        </a:p>
      </dgm:t>
    </dgm:pt>
    <dgm:pt modelId="{6CD0C8B5-5768-4525-A1DB-57BB54AEBAD0}" type="parTrans" cxnId="{BF66CC3F-7C05-4E2A-9061-A0205253E839}">
      <dgm:prSet/>
      <dgm:spPr/>
    </dgm:pt>
    <dgm:pt modelId="{B49E34F0-9166-477D-A334-401A62C6EB8F}" type="sibTrans" cxnId="{BF66CC3F-7C05-4E2A-9061-A0205253E839}">
      <dgm:prSet/>
      <dgm:spPr/>
      <dgm:t>
        <a:bodyPr/>
        <a:lstStyle/>
        <a:p>
          <a:endParaRPr lang="en-US"/>
        </a:p>
      </dgm:t>
    </dgm:pt>
    <dgm:pt modelId="{D6A7A263-8913-4294-BC8F-C8930ABCDC64}">
      <dgm:prSet phldr="0"/>
      <dgm:spPr/>
      <dgm:t>
        <a:bodyPr/>
        <a:lstStyle/>
        <a:p>
          <a:pPr rtl="0"/>
          <a:r>
            <a:rPr lang="en-US">
              <a:latin typeface="Century Gothic" panose="020B0502020202020204"/>
            </a:rPr>
            <a:t> </a:t>
          </a:r>
          <a:r>
            <a:rPr lang="en-US"/>
            <a:t>This helps determine whether trainees can apply best practices in real work settings, including responding professionally in digital communication and demonstrating proper virtual meeting behavior.</a:t>
          </a:r>
        </a:p>
      </dgm:t>
    </dgm:pt>
    <dgm:pt modelId="{2830C838-C16D-4001-834B-36AADE6D69C6}" type="parTrans" cxnId="{02736EF2-31AD-4FAA-BF9D-42C7EC44DD8C}">
      <dgm:prSet/>
      <dgm:spPr/>
    </dgm:pt>
    <dgm:pt modelId="{91FC6D89-2125-415A-B364-E57ECA87C657}" type="sibTrans" cxnId="{02736EF2-31AD-4FAA-BF9D-42C7EC44DD8C}">
      <dgm:prSet/>
      <dgm:spPr/>
      <dgm:t>
        <a:bodyPr/>
        <a:lstStyle/>
        <a:p>
          <a:endParaRPr lang="en-US"/>
        </a:p>
      </dgm:t>
    </dgm:pt>
    <dgm:pt modelId="{9E81FBCF-FD76-4966-8EAF-E6BF38AB0E34}">
      <dgm:prSet phldr="0"/>
      <dgm:spPr/>
      <dgm:t>
        <a:bodyPr/>
        <a:lstStyle/>
        <a:p>
          <a:r>
            <a:rPr lang="en-US" b="1"/>
            <a:t>Assess Knowledge Retention</a:t>
          </a:r>
        </a:p>
      </dgm:t>
    </dgm:pt>
    <dgm:pt modelId="{796059F6-C192-4EF9-96D6-3E81FD758FD1}" type="parTrans" cxnId="{06489834-0E51-4B8B-AB0C-9433A711A5A3}">
      <dgm:prSet/>
      <dgm:spPr/>
    </dgm:pt>
    <dgm:pt modelId="{3F92C8E7-6882-439A-9D63-56F5C38B8E97}" type="sibTrans" cxnId="{06489834-0E51-4B8B-AB0C-9433A711A5A3}">
      <dgm:prSet/>
      <dgm:spPr/>
      <dgm:t>
        <a:bodyPr/>
        <a:lstStyle/>
        <a:p>
          <a:endParaRPr lang="en-US"/>
        </a:p>
      </dgm:t>
    </dgm:pt>
    <dgm:pt modelId="{DBDEF6E6-AC81-4445-A698-10530AD6EDD1}">
      <dgm:prSet phldr="0"/>
      <dgm:spPr/>
      <dgm:t>
        <a:bodyPr/>
        <a:lstStyle/>
        <a:p>
          <a:r>
            <a:rPr lang="en-US" b="1"/>
            <a:t>Measure Skill Application</a:t>
          </a:r>
        </a:p>
      </dgm:t>
    </dgm:pt>
    <dgm:pt modelId="{E7708E25-AF10-46A5-ACFB-3F4BB2245AA4}" type="parTrans" cxnId="{1BF1EE01-B13D-434C-97CF-FF804B989D43}">
      <dgm:prSet/>
      <dgm:spPr/>
    </dgm:pt>
    <dgm:pt modelId="{1FB10C1D-92DC-4027-8763-574C49304286}" type="sibTrans" cxnId="{1BF1EE01-B13D-434C-97CF-FF804B989D43}">
      <dgm:prSet/>
      <dgm:spPr/>
      <dgm:t>
        <a:bodyPr/>
        <a:lstStyle/>
        <a:p>
          <a:endParaRPr lang="en-US"/>
        </a:p>
      </dgm:t>
    </dgm:pt>
    <dgm:pt modelId="{27FD855F-9394-4046-B776-B8FBD1E83173}">
      <dgm:prSet phldr="0"/>
      <dgm:spPr/>
      <dgm:t>
        <a:bodyPr/>
        <a:lstStyle/>
        <a:p>
          <a:r>
            <a:rPr lang="en-US" b="1"/>
            <a:t>Evaluate Training Effectiveness</a:t>
          </a:r>
        </a:p>
      </dgm:t>
    </dgm:pt>
    <dgm:pt modelId="{13378D08-A20F-48B3-AA09-DC0620B09DB7}" type="parTrans" cxnId="{490C1EB8-05F4-410D-97D7-5B33F67729D2}">
      <dgm:prSet/>
      <dgm:spPr/>
    </dgm:pt>
    <dgm:pt modelId="{CE8B308F-DCC3-40D2-8F5B-339CCFE7A9A9}" type="sibTrans" cxnId="{490C1EB8-05F4-410D-97D7-5B33F67729D2}">
      <dgm:prSet/>
      <dgm:spPr/>
    </dgm:pt>
    <dgm:pt modelId="{842800AA-4504-404D-A826-9856885DC663}">
      <dgm:prSet phldr="0"/>
      <dgm:spPr/>
      <dgm:t>
        <a:bodyPr/>
        <a:lstStyle/>
        <a:p>
          <a:pPr rtl="0"/>
          <a:r>
            <a:rPr lang="en-US">
              <a:latin typeface="Century Gothic" panose="020B0502020202020204"/>
            </a:rPr>
            <a:t> </a:t>
          </a:r>
          <a:r>
            <a:rPr lang="en-US"/>
            <a:t>We aim to evaluate how well trainees have understood key concepts related to virtual professionalism, email etiquette, and online meeting conduct.</a:t>
          </a:r>
        </a:p>
      </dgm:t>
    </dgm:pt>
    <dgm:pt modelId="{2CD96155-B697-4663-B007-6ACA228807F4}" type="parTrans" cxnId="{B8E2CAF5-D56F-4C2C-9339-47B9C68645E6}">
      <dgm:prSet/>
      <dgm:spPr/>
    </dgm:pt>
    <dgm:pt modelId="{25D0A34B-FDBF-45C6-976D-3A8148491180}" type="sibTrans" cxnId="{B8E2CAF5-D56F-4C2C-9339-47B9C68645E6}">
      <dgm:prSet/>
      <dgm:spPr/>
    </dgm:pt>
    <dgm:pt modelId="{1AE6A6F8-BA76-40B9-A19B-748BE85803BD}" type="pres">
      <dgm:prSet presAssocID="{C3552BEE-B5E5-4E17-8678-77BDB3033C46}" presName="compositeShape" presStyleCnt="0">
        <dgm:presLayoutVars>
          <dgm:dir/>
          <dgm:resizeHandles/>
        </dgm:presLayoutVars>
      </dgm:prSet>
      <dgm:spPr/>
    </dgm:pt>
    <dgm:pt modelId="{19DA0CF6-A96C-4958-BE35-71CF4CBE730D}" type="pres">
      <dgm:prSet presAssocID="{C3552BEE-B5E5-4E17-8678-77BDB3033C46}" presName="pyramid" presStyleLbl="node1" presStyleIdx="0" presStyleCnt="1"/>
      <dgm:spPr/>
    </dgm:pt>
    <dgm:pt modelId="{703E1C80-E7BE-43B3-B847-DD0DC51474FC}" type="pres">
      <dgm:prSet presAssocID="{C3552BEE-B5E5-4E17-8678-77BDB3033C46}" presName="theList" presStyleCnt="0"/>
      <dgm:spPr/>
    </dgm:pt>
    <dgm:pt modelId="{97A1C574-19AE-4CC8-B4EF-27C0E440BE66}" type="pres">
      <dgm:prSet presAssocID="{9E81FBCF-FD76-4966-8EAF-E6BF38AB0E34}" presName="aNode" presStyleLbl="fgAcc1" presStyleIdx="0" presStyleCnt="3">
        <dgm:presLayoutVars>
          <dgm:bulletEnabled val="1"/>
        </dgm:presLayoutVars>
      </dgm:prSet>
      <dgm:spPr/>
    </dgm:pt>
    <dgm:pt modelId="{91E72C8A-5C7E-4E59-99C0-C76674004E05}" type="pres">
      <dgm:prSet presAssocID="{9E81FBCF-FD76-4966-8EAF-E6BF38AB0E34}" presName="aSpace" presStyleCnt="0"/>
      <dgm:spPr/>
    </dgm:pt>
    <dgm:pt modelId="{CE3F0041-2E27-4158-A3D5-A3175B21753E}" type="pres">
      <dgm:prSet presAssocID="{DBDEF6E6-AC81-4445-A698-10530AD6EDD1}" presName="aNode" presStyleLbl="fgAcc1" presStyleIdx="1" presStyleCnt="3">
        <dgm:presLayoutVars>
          <dgm:bulletEnabled val="1"/>
        </dgm:presLayoutVars>
      </dgm:prSet>
      <dgm:spPr/>
    </dgm:pt>
    <dgm:pt modelId="{B6289C69-1EC4-4471-A4E9-F57788B10A3D}" type="pres">
      <dgm:prSet presAssocID="{DBDEF6E6-AC81-4445-A698-10530AD6EDD1}" presName="aSpace" presStyleCnt="0"/>
      <dgm:spPr/>
    </dgm:pt>
    <dgm:pt modelId="{4F9D4554-EE9F-4F76-BC8E-0B37281D98BC}" type="pres">
      <dgm:prSet presAssocID="{27FD855F-9394-4046-B776-B8FBD1E83173}" presName="aNode" presStyleLbl="fgAcc1" presStyleIdx="2" presStyleCnt="3">
        <dgm:presLayoutVars>
          <dgm:bulletEnabled val="1"/>
        </dgm:presLayoutVars>
      </dgm:prSet>
      <dgm:spPr/>
    </dgm:pt>
    <dgm:pt modelId="{6C55B4FC-5AD5-4196-9CA9-F18046C59B5C}" type="pres">
      <dgm:prSet presAssocID="{27FD855F-9394-4046-B776-B8FBD1E83173}" presName="aSpace" presStyleCnt="0"/>
      <dgm:spPr/>
    </dgm:pt>
  </dgm:ptLst>
  <dgm:cxnLst>
    <dgm:cxn modelId="{1BF1EE01-B13D-434C-97CF-FF804B989D43}" srcId="{C3552BEE-B5E5-4E17-8678-77BDB3033C46}" destId="{DBDEF6E6-AC81-4445-A698-10530AD6EDD1}" srcOrd="1" destOrd="0" parTransId="{E7708E25-AF10-46A5-ACFB-3F4BB2245AA4}" sibTransId="{1FB10C1D-92DC-4027-8763-574C49304286}"/>
    <dgm:cxn modelId="{6AB15815-19EF-4C7F-AF2F-15E05C67D2A9}" type="presOf" srcId="{842800AA-4504-404D-A826-9856885DC663}" destId="{97A1C574-19AE-4CC8-B4EF-27C0E440BE66}" srcOrd="0" destOrd="1" presId="urn:microsoft.com/office/officeart/2005/8/layout/pyramid2"/>
    <dgm:cxn modelId="{7E91FE16-AB56-4F20-A6D0-15A767AD43B3}" type="presOf" srcId="{9E81FBCF-FD76-4966-8EAF-E6BF38AB0E34}" destId="{97A1C574-19AE-4CC8-B4EF-27C0E440BE66}" srcOrd="0" destOrd="0" presId="urn:microsoft.com/office/officeart/2005/8/layout/pyramid2"/>
    <dgm:cxn modelId="{FA00BC25-668B-4368-8216-BA1947EC6A75}" type="presOf" srcId="{27FD855F-9394-4046-B776-B8FBD1E83173}" destId="{4F9D4554-EE9F-4F76-BC8E-0B37281D98BC}" srcOrd="0" destOrd="0" presId="urn:microsoft.com/office/officeart/2005/8/layout/pyramid2"/>
    <dgm:cxn modelId="{06489834-0E51-4B8B-AB0C-9433A711A5A3}" srcId="{C3552BEE-B5E5-4E17-8678-77BDB3033C46}" destId="{9E81FBCF-FD76-4966-8EAF-E6BF38AB0E34}" srcOrd="0" destOrd="0" parTransId="{796059F6-C192-4EF9-96D6-3E81FD758FD1}" sibTransId="{3F92C8E7-6882-439A-9D63-56F5C38B8E97}"/>
    <dgm:cxn modelId="{BF66CC3F-7C05-4E2A-9061-A0205253E839}" srcId="{27FD855F-9394-4046-B776-B8FBD1E83173}" destId="{9B6D593F-4E9F-4D77-BE35-507DA467EA01}" srcOrd="0" destOrd="0" parTransId="{6CD0C8B5-5768-4525-A1DB-57BB54AEBAD0}" sibTransId="{B49E34F0-9166-477D-A334-401A62C6EB8F}"/>
    <dgm:cxn modelId="{C55E0E54-BA8E-49A2-9017-7036654C9C34}" type="presOf" srcId="{DBDEF6E6-AC81-4445-A698-10530AD6EDD1}" destId="{CE3F0041-2E27-4158-A3D5-A3175B21753E}" srcOrd="0" destOrd="0" presId="urn:microsoft.com/office/officeart/2005/8/layout/pyramid2"/>
    <dgm:cxn modelId="{F2CE81A4-B731-41E7-B469-B9E5318DE2F0}" type="presOf" srcId="{C3552BEE-B5E5-4E17-8678-77BDB3033C46}" destId="{1AE6A6F8-BA76-40B9-A19B-748BE85803BD}" srcOrd="0" destOrd="0" presId="urn:microsoft.com/office/officeart/2005/8/layout/pyramid2"/>
    <dgm:cxn modelId="{0058E4A7-BFC6-467A-9B83-7967C35A23C4}" type="presOf" srcId="{D6A7A263-8913-4294-BC8F-C8930ABCDC64}" destId="{CE3F0041-2E27-4158-A3D5-A3175B21753E}" srcOrd="0" destOrd="1" presId="urn:microsoft.com/office/officeart/2005/8/layout/pyramid2"/>
    <dgm:cxn modelId="{490C1EB8-05F4-410D-97D7-5B33F67729D2}" srcId="{C3552BEE-B5E5-4E17-8678-77BDB3033C46}" destId="{27FD855F-9394-4046-B776-B8FBD1E83173}" srcOrd="2" destOrd="0" parTransId="{13378D08-A20F-48B3-AA09-DC0620B09DB7}" sibTransId="{CE8B308F-DCC3-40D2-8F5B-339CCFE7A9A9}"/>
    <dgm:cxn modelId="{080134DB-C296-4E59-90A5-62E420BE2137}" type="presOf" srcId="{9B6D593F-4E9F-4D77-BE35-507DA467EA01}" destId="{4F9D4554-EE9F-4F76-BC8E-0B37281D98BC}" srcOrd="0" destOrd="1" presId="urn:microsoft.com/office/officeart/2005/8/layout/pyramid2"/>
    <dgm:cxn modelId="{02736EF2-31AD-4FAA-BF9D-42C7EC44DD8C}" srcId="{DBDEF6E6-AC81-4445-A698-10530AD6EDD1}" destId="{D6A7A263-8913-4294-BC8F-C8930ABCDC64}" srcOrd="0" destOrd="0" parTransId="{2830C838-C16D-4001-834B-36AADE6D69C6}" sibTransId="{91FC6D89-2125-415A-B364-E57ECA87C657}"/>
    <dgm:cxn modelId="{B8E2CAF5-D56F-4C2C-9339-47B9C68645E6}" srcId="{9E81FBCF-FD76-4966-8EAF-E6BF38AB0E34}" destId="{842800AA-4504-404D-A826-9856885DC663}" srcOrd="0" destOrd="0" parTransId="{2CD96155-B697-4663-B007-6ACA228807F4}" sibTransId="{25D0A34B-FDBF-45C6-976D-3A8148491180}"/>
    <dgm:cxn modelId="{05CD38BF-D3F8-427E-B372-E1F2C66BA3BD}" type="presParOf" srcId="{1AE6A6F8-BA76-40B9-A19B-748BE85803BD}" destId="{19DA0CF6-A96C-4958-BE35-71CF4CBE730D}" srcOrd="0" destOrd="0" presId="urn:microsoft.com/office/officeart/2005/8/layout/pyramid2"/>
    <dgm:cxn modelId="{E2BD15A8-EF70-4A68-9FE2-D9884944A5E8}" type="presParOf" srcId="{1AE6A6F8-BA76-40B9-A19B-748BE85803BD}" destId="{703E1C80-E7BE-43B3-B847-DD0DC51474FC}" srcOrd="1" destOrd="0" presId="urn:microsoft.com/office/officeart/2005/8/layout/pyramid2"/>
    <dgm:cxn modelId="{3BE50CD0-B84F-4126-9F13-4DF6BD523245}" type="presParOf" srcId="{703E1C80-E7BE-43B3-B847-DD0DC51474FC}" destId="{97A1C574-19AE-4CC8-B4EF-27C0E440BE66}" srcOrd="0" destOrd="0" presId="urn:microsoft.com/office/officeart/2005/8/layout/pyramid2"/>
    <dgm:cxn modelId="{A34B3762-E9F2-42D6-A665-9D98ED98FCD5}" type="presParOf" srcId="{703E1C80-E7BE-43B3-B847-DD0DC51474FC}" destId="{91E72C8A-5C7E-4E59-99C0-C76674004E05}" srcOrd="1" destOrd="0" presId="urn:microsoft.com/office/officeart/2005/8/layout/pyramid2"/>
    <dgm:cxn modelId="{9D3A5A09-F91B-4905-A851-137535EB5472}" type="presParOf" srcId="{703E1C80-E7BE-43B3-B847-DD0DC51474FC}" destId="{CE3F0041-2E27-4158-A3D5-A3175B21753E}" srcOrd="2" destOrd="0" presId="urn:microsoft.com/office/officeart/2005/8/layout/pyramid2"/>
    <dgm:cxn modelId="{B7050AF4-C7A2-4558-ACCD-8FD188FEFFF0}" type="presParOf" srcId="{703E1C80-E7BE-43B3-B847-DD0DC51474FC}" destId="{B6289C69-1EC4-4471-A4E9-F57788B10A3D}" srcOrd="3" destOrd="0" presId="urn:microsoft.com/office/officeart/2005/8/layout/pyramid2"/>
    <dgm:cxn modelId="{E5710F2A-A42A-46D2-84D8-AB13CC4597C1}" type="presParOf" srcId="{703E1C80-E7BE-43B3-B847-DD0DC51474FC}" destId="{4F9D4554-EE9F-4F76-BC8E-0B37281D98BC}" srcOrd="4" destOrd="0" presId="urn:microsoft.com/office/officeart/2005/8/layout/pyramid2"/>
    <dgm:cxn modelId="{5C5FC545-56DB-474A-873E-9ED6375DF18B}" type="presParOf" srcId="{703E1C80-E7BE-43B3-B847-DD0DC51474FC}" destId="{6C55B4FC-5AD5-4196-9CA9-F18046C59B5C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E8356B-9528-4DCB-8C9E-60934911B112}">
      <dsp:nvSpPr>
        <dsp:cNvPr id="0" name=""/>
        <dsp:cNvSpPr/>
      </dsp:nvSpPr>
      <dsp:spPr>
        <a:xfrm>
          <a:off x="3486" y="1380893"/>
          <a:ext cx="623109" cy="6231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29EAC5-F4BC-4FCA-951A-AF6B52DAEB59}">
      <dsp:nvSpPr>
        <dsp:cNvPr id="0" name=""/>
        <dsp:cNvSpPr/>
      </dsp:nvSpPr>
      <dsp:spPr>
        <a:xfrm>
          <a:off x="3486" y="2107197"/>
          <a:ext cx="1780312" cy="3922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>
              <a:latin typeface="Century Gothic" panose="020B0502020202020204"/>
            </a:rPr>
            <a:t>To identify Baseline Skills </a:t>
          </a:r>
        </a:p>
      </dsp:txBody>
      <dsp:txXfrm>
        <a:off x="3486" y="2107197"/>
        <a:ext cx="1780312" cy="392225"/>
      </dsp:txXfrm>
    </dsp:sp>
    <dsp:sp modelId="{C0767A0A-64EF-458F-AE31-DC50A0F84DEF}">
      <dsp:nvSpPr>
        <dsp:cNvPr id="0" name=""/>
        <dsp:cNvSpPr/>
      </dsp:nvSpPr>
      <dsp:spPr>
        <a:xfrm>
          <a:off x="3486" y="2547420"/>
          <a:ext cx="1780312" cy="1233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Century Gothic" panose="020B0502020202020204"/>
            </a:rPr>
            <a:t>We want to gauge the current proficiency levels of the interns in various aspects of professional communication</a:t>
          </a:r>
          <a:endParaRPr lang="en-US" sz="1100" kern="1200"/>
        </a:p>
      </dsp:txBody>
      <dsp:txXfrm>
        <a:off x="3486" y="2547420"/>
        <a:ext cx="1780312" cy="1233341"/>
      </dsp:txXfrm>
    </dsp:sp>
    <dsp:sp modelId="{E87D60C5-D224-458D-9045-9E099A83A245}">
      <dsp:nvSpPr>
        <dsp:cNvPr id="0" name=""/>
        <dsp:cNvSpPr/>
      </dsp:nvSpPr>
      <dsp:spPr>
        <a:xfrm>
          <a:off x="2095353" y="1380893"/>
          <a:ext cx="623109" cy="6231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1E68AC-B214-491C-A6D9-4AABD4E041EC}">
      <dsp:nvSpPr>
        <dsp:cNvPr id="0" name=""/>
        <dsp:cNvSpPr/>
      </dsp:nvSpPr>
      <dsp:spPr>
        <a:xfrm>
          <a:off x="2095353" y="2107197"/>
          <a:ext cx="1780312" cy="3922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>
              <a:latin typeface="Century Gothic" panose="020B0502020202020204"/>
            </a:rPr>
            <a:t>Highlighting Areas of Improvement</a:t>
          </a:r>
        </a:p>
      </dsp:txBody>
      <dsp:txXfrm>
        <a:off x="2095353" y="2107197"/>
        <a:ext cx="1780312" cy="392225"/>
      </dsp:txXfrm>
    </dsp:sp>
    <dsp:sp modelId="{EE294F2C-3E34-40DD-AB3A-8AB8A0C1260F}">
      <dsp:nvSpPr>
        <dsp:cNvPr id="0" name=""/>
        <dsp:cNvSpPr/>
      </dsp:nvSpPr>
      <dsp:spPr>
        <a:xfrm>
          <a:off x="2095353" y="2547420"/>
          <a:ext cx="1780312" cy="1233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Century Gothic" panose="020B0502020202020204"/>
            </a:rPr>
            <a:t>This is to allow trainees an opportunity to reflect on their knowledge and to pinpoint specific areas where they feel less confident or competent, allowing for targeted training outcomes</a:t>
          </a:r>
          <a:endParaRPr lang="en-US" sz="1100" kern="1200"/>
        </a:p>
      </dsp:txBody>
      <dsp:txXfrm>
        <a:off x="2095353" y="2547420"/>
        <a:ext cx="1780312" cy="1233341"/>
      </dsp:txXfrm>
    </dsp:sp>
    <dsp:sp modelId="{0E7E843F-FBE9-41EE-9341-87C26DE7B32C}">
      <dsp:nvSpPr>
        <dsp:cNvPr id="0" name=""/>
        <dsp:cNvSpPr/>
      </dsp:nvSpPr>
      <dsp:spPr>
        <a:xfrm>
          <a:off x="4187220" y="1380893"/>
          <a:ext cx="623109" cy="6231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93F972-250B-4856-9319-6E2E940A8AB6}">
      <dsp:nvSpPr>
        <dsp:cNvPr id="0" name=""/>
        <dsp:cNvSpPr/>
      </dsp:nvSpPr>
      <dsp:spPr>
        <a:xfrm>
          <a:off x="4187220" y="2107197"/>
          <a:ext cx="1780312" cy="3922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>
              <a:latin typeface="Century Gothic" panose="020B0502020202020204"/>
            </a:rPr>
            <a:t>Monitor Progress</a:t>
          </a:r>
        </a:p>
      </dsp:txBody>
      <dsp:txXfrm>
        <a:off x="4187220" y="2107197"/>
        <a:ext cx="1780312" cy="392225"/>
      </dsp:txXfrm>
    </dsp:sp>
    <dsp:sp modelId="{A37B4B47-855B-46EA-A8D6-B4E0831FD9BA}">
      <dsp:nvSpPr>
        <dsp:cNvPr id="0" name=""/>
        <dsp:cNvSpPr/>
      </dsp:nvSpPr>
      <dsp:spPr>
        <a:xfrm>
          <a:off x="4187220" y="2547420"/>
          <a:ext cx="1780312" cy="1233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Century Gothic" panose="020B0502020202020204"/>
            </a:rPr>
            <a:t>To provide a reference point for evaluating the trainee's progress over the course of the training program</a:t>
          </a:r>
          <a:endParaRPr lang="en-US" sz="1100" kern="1200"/>
        </a:p>
      </dsp:txBody>
      <dsp:txXfrm>
        <a:off x="4187220" y="2547420"/>
        <a:ext cx="1780312" cy="12333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DA0CF6-A96C-4958-BE35-71CF4CBE730D}">
      <dsp:nvSpPr>
        <dsp:cNvPr id="0" name=""/>
        <dsp:cNvSpPr/>
      </dsp:nvSpPr>
      <dsp:spPr>
        <a:xfrm>
          <a:off x="17558" y="0"/>
          <a:ext cx="5161655" cy="5161655"/>
        </a:xfrm>
        <a:prstGeom prst="triangl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A1C574-19AE-4CC8-B4EF-27C0E440BE66}">
      <dsp:nvSpPr>
        <dsp:cNvPr id="0" name=""/>
        <dsp:cNvSpPr/>
      </dsp:nvSpPr>
      <dsp:spPr>
        <a:xfrm>
          <a:off x="2598385" y="518937"/>
          <a:ext cx="3355075" cy="122186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Assess Knowledge Retention</a:t>
          </a: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>
              <a:latin typeface="Century Gothic" panose="020B0502020202020204"/>
            </a:rPr>
            <a:t> </a:t>
          </a:r>
          <a:r>
            <a:rPr lang="en-US" sz="1000" kern="1200"/>
            <a:t>We aim to evaluate how well trainees have understood key concepts related to virtual professionalism, email etiquette, and online meeting conduct.</a:t>
          </a:r>
        </a:p>
      </dsp:txBody>
      <dsp:txXfrm>
        <a:off x="2658031" y="578583"/>
        <a:ext cx="3235783" cy="1102568"/>
      </dsp:txXfrm>
    </dsp:sp>
    <dsp:sp modelId="{CE3F0041-2E27-4158-A3D5-A3175B21753E}">
      <dsp:nvSpPr>
        <dsp:cNvPr id="0" name=""/>
        <dsp:cNvSpPr/>
      </dsp:nvSpPr>
      <dsp:spPr>
        <a:xfrm>
          <a:off x="2598385" y="1893530"/>
          <a:ext cx="3355075" cy="122186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Measure Skill Application</a:t>
          </a: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>
              <a:latin typeface="Century Gothic" panose="020B0502020202020204"/>
            </a:rPr>
            <a:t> </a:t>
          </a:r>
          <a:r>
            <a:rPr lang="en-US" sz="1000" kern="1200"/>
            <a:t>This helps determine whether trainees can apply best practices in real work settings, including responding professionally in digital communication and demonstrating proper virtual meeting behavior.</a:t>
          </a:r>
        </a:p>
      </dsp:txBody>
      <dsp:txXfrm>
        <a:off x="2658031" y="1953176"/>
        <a:ext cx="3235783" cy="1102568"/>
      </dsp:txXfrm>
    </dsp:sp>
    <dsp:sp modelId="{4F9D4554-EE9F-4F76-BC8E-0B37281D98BC}">
      <dsp:nvSpPr>
        <dsp:cNvPr id="0" name=""/>
        <dsp:cNvSpPr/>
      </dsp:nvSpPr>
      <dsp:spPr>
        <a:xfrm>
          <a:off x="2598385" y="3268124"/>
          <a:ext cx="3355075" cy="122186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Evaluate Training Effectiveness</a:t>
          </a: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0" kern="1200">
              <a:latin typeface="Century Gothic" panose="020B0502020202020204"/>
            </a:rPr>
            <a:t> By</a:t>
          </a:r>
          <a:r>
            <a:rPr lang="en-US" sz="1000" b="0" kern="1200"/>
            <a:t> comparing post-test results with pre-test data, we can analyze growth, identify areas of improvement, and determine the overall impact of the training on workplace behavior.</a:t>
          </a:r>
        </a:p>
      </dsp:txBody>
      <dsp:txXfrm>
        <a:off x="2658031" y="3327770"/>
        <a:ext cx="3235783" cy="1102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82B951-AFFF-3499-FDE3-02A7F0BD15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E5896A-FCE2-110F-B202-A8E435372D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69F83-204D-4778-AAD0-A0F851A3AEEE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BFBA0-47AD-543A-6AE4-769D8F865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FC355-FEF6-ED8F-8D0E-F362E204A0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69D59-B021-49CB-887D-52B8FEE1C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069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E3C21-C3CB-4B8D-9033-56C1B3CE75F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732C3C-A191-48C2-A7E8-9C96AF841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39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1577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793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7F61B-A1EF-FA88-C43D-C3E00AEED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9870CD-DB56-5F12-5A8A-FC04AA019A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39289D-EC6B-5B20-EF08-759CD5D0F4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3C460-2624-C79D-4A12-98B49B32CD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603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5F9E0-B60D-1B94-9907-D57C4B5F7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2FFBA0-65F5-0B8C-27D6-8370DA5D74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AB3761-CF59-427D-AF15-51FE0669E4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92D90-949D-C184-6A47-3309294FD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840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6D709-999A-F3AB-8604-7B551B274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E050DA-05B6-6D8A-10AE-CC9008A1B5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A2E22D-FD84-4E35-C4DD-3A6407938E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45023-D83D-87A5-A8DF-0492B7BE98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20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480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BECDFC6B-0742-962E-44A1-19C9C173B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848" y="425303"/>
            <a:ext cx="11305217" cy="6007394"/>
          </a:xfrm>
          <a:prstGeom prst="rect">
            <a:avLst/>
          </a:prstGeom>
          <a:effectLst/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33046"/>
            <a:ext cx="10571998" cy="3366198"/>
          </a:xfrm>
          <a:ln>
            <a:noFill/>
          </a:ln>
          <a:effectLst/>
        </p:spPr>
        <p:txBody>
          <a:bodyPr/>
          <a:lstStyle>
            <a:lvl1pPr algn="ctr">
              <a:defRPr sz="7200" b="1" spc="-30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3698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ADBC817-DA57-A518-5544-0D3B819C7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873FFF3-C7B6-C678-1B03-17FBD0D5A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6174" y="425303"/>
            <a:ext cx="5379242" cy="59834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217" y="924167"/>
            <a:ext cx="4383156" cy="5009322"/>
          </a:xfrm>
          <a:solidFill>
            <a:schemeClr val="accent1">
              <a:lumMod val="50000"/>
            </a:schemeClr>
          </a:solidFill>
          <a:effectLst>
            <a:outerShdw blurRad="254000" dist="50800" dir="2700000" algn="ctr" rotWithShape="0">
              <a:prstClr val="black">
                <a:alpha val="25000"/>
              </a:prstClr>
            </a:outerShdw>
          </a:effectLst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924512"/>
            <a:ext cx="4750904" cy="5008977"/>
          </a:xfrm>
        </p:spPr>
        <p:txBody>
          <a:bodyPr/>
          <a:lstStyle>
            <a:lvl1pPr marL="0" indent="0">
              <a:buNone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543050" indent="-171450">
              <a:buFont typeface="Arial" panose="020B0604020202020204" pitchFamily="34" charset="0"/>
              <a:buChar char="•"/>
              <a:defRPr/>
            </a:lvl4pPr>
            <a:lvl5pPr marL="2000250" indent="-1714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7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05E210-05B5-5EA1-C778-30BB3A494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9987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792193-1165-3487-6FB9-133CB518C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0924" y="-2235006"/>
            <a:ext cx="6010147" cy="1132013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1741064"/>
            <a:ext cx="10571998" cy="1928264"/>
          </a:xfrm>
          <a:ln>
            <a:noFill/>
          </a:ln>
          <a:effectLst/>
        </p:spPr>
        <p:txBody>
          <a:bodyPr/>
          <a:lstStyle>
            <a:lvl1pPr algn="ctr">
              <a:defRPr sz="3600" spc="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0000" y="3694102"/>
            <a:ext cx="10572000" cy="896468"/>
          </a:xfrm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80000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905615-9FD2-EBB3-89AB-555B373EB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23955" y="414670"/>
            <a:ext cx="7132110" cy="60180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B638DB-3E00-7F4B-D4B7-9D7F09056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0459" y="420624"/>
            <a:ext cx="4183496" cy="60167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EED07-CDD5-9244-28FA-5195E6795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35934" y="422551"/>
            <a:ext cx="4183495" cy="601014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717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B5AB4E8D-8B32-8B00-8152-856C592BAB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46793" y="924340"/>
            <a:ext cx="5684373" cy="5009322"/>
          </a:xfrm>
          <a:effectLst/>
        </p:spPr>
        <p:txBody>
          <a:bodyPr lIns="0" rIns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1pPr>
            <a:lvl2pPr marL="4572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2pPr>
            <a:lvl3pPr marL="9144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3pPr>
            <a:lvl4pPr marL="13716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4pPr>
            <a:lvl5pPr marL="18288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769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4A700F-42CA-D7A9-D709-C0017521B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rgbClr val="F9E0B9"/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61DA139-D8FD-A752-758D-4F836DFB2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353" t="-388" r="-1" b="-254"/>
          <a:stretch/>
        </p:blipFill>
        <p:spPr>
          <a:xfrm rot="16200000" flipH="1">
            <a:off x="210940" y="1589892"/>
            <a:ext cx="5245922" cy="366758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5516" y="1433219"/>
            <a:ext cx="5695102" cy="2092049"/>
          </a:xfrm>
          <a:noFill/>
          <a:effectLst/>
        </p:spPr>
        <p:txBody>
          <a:bodyPr anchor="b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96F37D4-7152-EA75-8D7D-D8F7D6DD9C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50099" y="1974707"/>
            <a:ext cx="2907792" cy="2907792"/>
          </a:xfrm>
          <a:solidFill>
            <a:srgbClr val="F9E0B9"/>
          </a:solidFill>
          <a:effectLst/>
        </p:spPr>
        <p:txBody>
          <a:bodyPr anchor="t"/>
          <a:lstStyle>
            <a:lvl1pPr marL="0" indent="0" algn="ctr"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FBE5B12-0D10-DA99-093A-2C4FB738B21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96789" y="3525268"/>
            <a:ext cx="5683829" cy="2595429"/>
          </a:xfrm>
          <a:effectLst/>
        </p:spPr>
        <p:txBody>
          <a:bodyPr anchor="t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b="1">
                <a:solidFill>
                  <a:schemeClr val="accent1">
                    <a:lumMod val="50000"/>
                  </a:schemeClr>
                </a:solidFill>
              </a:defRPr>
            </a:lvl1pPr>
            <a:lvl2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995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633845"/>
            <a:ext cx="3990110" cy="219248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5614EF-4CFA-2D69-0F78-9D7409E2337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7423" y="3174531"/>
            <a:ext cx="3772622" cy="3122360"/>
          </a:xfrm>
          <a:effectLst/>
        </p:spPr>
        <p:txBody>
          <a:bodyPr rIns="274320" anchor="t"/>
          <a:lstStyle>
            <a:lvl1pPr marL="283464" indent="-28346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237732" y="946205"/>
            <a:ext cx="5971020" cy="5161655"/>
          </a:xfrm>
        </p:spPr>
        <p:txBody>
          <a:bodyPr/>
          <a:lstStyle/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164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3E625C-F0A4-564D-CEE2-6B3595CEB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61889" y="0"/>
            <a:ext cx="6230111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7445" y="157637"/>
            <a:ext cx="4851694" cy="2190705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4D8C78-00C3-F3D7-17C3-F1667E463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422551"/>
            <a:ext cx="5124893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13E61FD-F54A-5F86-FCED-3BD4C8AA4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353" t="-388" r="-1" b="-254"/>
          <a:stretch/>
        </p:blipFill>
        <p:spPr>
          <a:xfrm flipH="1">
            <a:off x="659106" y="3429000"/>
            <a:ext cx="4589830" cy="27804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F0290F-2D31-F9FB-AD35-B76947AF1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36863" y="776532"/>
            <a:ext cx="3434316" cy="501821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347A5B6-0F99-C044-C209-F3190EEFA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36663" y="776288"/>
            <a:ext cx="3433762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592615" y="2505979"/>
            <a:ext cx="4837385" cy="3926717"/>
          </a:xfrm>
          <a:effectLst/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668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4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6DB3CB-355C-968A-7F5F-71E03504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0"/>
            <a:ext cx="12192001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153836" y="1371602"/>
            <a:ext cx="6177309" cy="1953489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87279F-936E-0F41-B533-7990D668D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53836" y="3446156"/>
            <a:ext cx="6177309" cy="0"/>
          </a:xfrm>
          <a:prstGeom prst="line">
            <a:avLst/>
          </a:prstGeom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DD03AA1-6D53-FEB1-9B22-57C1066DA33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53836" y="3745924"/>
            <a:ext cx="6177309" cy="2238918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9371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85800"/>
            <a:ext cx="10571998" cy="2983528"/>
          </a:xfrm>
          <a:effectLst/>
        </p:spPr>
        <p:txBody>
          <a:bodyPr/>
          <a:lstStyle>
            <a:lvl1pPr algn="ctr">
              <a:defRPr sz="3600" spc="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23403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12B799F-04B8-4A62-EB7D-F17311231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56500" y="0"/>
            <a:ext cx="463550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F310BE-5861-E73D-5979-D11A97151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0270" y="487680"/>
            <a:ext cx="6482080" cy="59029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12F5E6-EC22-5E10-94FB-5E546A7B9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95630" y="477518"/>
            <a:ext cx="6482079" cy="5913121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6952" y="477518"/>
            <a:ext cx="3829465" cy="2693887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4BBA88A-FAA8-CE13-2A76-BF8B014AE34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952500" y="909638"/>
            <a:ext cx="5578475" cy="5038725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036953" y="3449781"/>
            <a:ext cx="3829465" cy="2940860"/>
          </a:xfrm>
          <a:effectLst/>
        </p:spPr>
        <p:txBody>
          <a:bodyPr anchor="t"/>
          <a:lstStyle>
            <a:lvl1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2818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373" y="571501"/>
            <a:ext cx="11139054" cy="1028699"/>
          </a:xfrm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E10735F5-6B7D-348D-AC70-8BC10CB5F70A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60550"/>
            <a:ext cx="10515600" cy="4198938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1912634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FDAFCA1-BDD9-1108-8F95-E3FC1A793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0"/>
            <a:ext cx="11532896" cy="6858000"/>
            <a:chOff x="659106" y="0"/>
            <a:chExt cx="11532896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4BFDB24-6BE4-2FC0-F772-DC1DE926E485}"/>
                </a:ext>
              </a:extLst>
            </p:cNvPr>
            <p:cNvSpPr/>
            <p:nvPr/>
          </p:nvSpPr>
          <p:spPr>
            <a:xfrm>
              <a:off x="5995086" y="0"/>
              <a:ext cx="6196916" cy="6858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254000" dist="508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131EABEA-AB8A-5E4C-A6DD-8F32B70E90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-1353" t="-388" r="-1" b="-254"/>
            <a:stretch/>
          </p:blipFill>
          <p:spPr>
            <a:xfrm flipH="1">
              <a:off x="659106" y="1956391"/>
              <a:ext cx="4878094" cy="278041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2279AAC-0D81-D3CD-3F0F-E8CEE0F56D43}"/>
                </a:ext>
              </a:extLst>
            </p:cNvPr>
            <p:cNvSpPr/>
            <p:nvPr/>
          </p:nvSpPr>
          <p:spPr>
            <a:xfrm>
              <a:off x="1328303" y="776532"/>
              <a:ext cx="3434316" cy="501821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542" y="132080"/>
            <a:ext cx="4928894" cy="6507711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720B2D-C199-57FA-9453-DBFB607BA9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9500" y="992188"/>
            <a:ext cx="3425825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59858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11222B-29F6-BF2A-09DE-82F659638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035F993-EADB-1C5A-7158-41E510B70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12E34E-DBAF-BA5D-15D9-E69A05535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1889759"/>
            <a:ext cx="11424920" cy="45429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571499"/>
            <a:ext cx="11118274" cy="1154114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BF6A552-CE6A-3977-8507-74A1C4C4B5A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41667" y="2461056"/>
            <a:ext cx="3626424" cy="3721535"/>
          </a:xfrm>
          <a:effectLst/>
        </p:spPr>
        <p:txBody>
          <a:bodyPr anchor="t">
            <a:normAutofit/>
          </a:bodyPr>
          <a:lstStyle>
            <a:lvl1pPr marL="285750" indent="-28575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400"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4C80689F-A123-F6D7-2AA8-9166317EF42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95282" y="2440275"/>
            <a:ext cx="5164553" cy="3721534"/>
          </a:xfrm>
          <a:effectLst/>
        </p:spPr>
        <p:txBody>
          <a:bodyPr anchor="t">
            <a:norm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+mj-lt"/>
              <a:buAutoNum type="arabicPeriod"/>
              <a:defRPr sz="1800" b="1">
                <a:solidFill>
                  <a:schemeClr val="accent1">
                    <a:lumMod val="50000"/>
                  </a:schemeClr>
                </a:solidFill>
              </a:defRPr>
            </a:lvl1pPr>
            <a:lvl2pPr marL="34747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8202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F4DCF8-BA15-AB79-2D14-040F5A063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D22DD7-291D-E347-8A4C-07E31E681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2299" y="-2231063"/>
            <a:ext cx="6007395" cy="1132012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660" y="1017858"/>
            <a:ext cx="10650681" cy="2719255"/>
          </a:xfrm>
          <a:noFill/>
          <a:effectLst/>
        </p:spPr>
        <p:txBody>
          <a:bodyPr anchor="b"/>
          <a:lstStyle>
            <a:lvl1pPr algn="ctr">
              <a:defRPr sz="7200" spc="-30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0660" y="4042066"/>
            <a:ext cx="10650681" cy="2296843"/>
          </a:xfrm>
          <a:effectLst/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2508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6F7BD38-A805-4B2C-9BDF-D56E94387879}" type="datetime1">
              <a:rPr lang="en-US" smtClean="0"/>
              <a:t>4/18/2025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68" r:id="rId2"/>
    <p:sldLayoutId id="2147483669" r:id="rId3"/>
    <p:sldLayoutId id="2147483684" r:id="rId4"/>
    <p:sldLayoutId id="2147483672" r:id="rId5"/>
    <p:sldLayoutId id="2147483687" r:id="rId6"/>
    <p:sldLayoutId id="2147483671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85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 baseline="0">
          <a:ln>
            <a:noFill/>
          </a:ln>
          <a:solidFill>
            <a:srgbClr val="FEFEFE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d/1OJ-KoUXZyAGcyJ0ixNlPqAtUDnGmJ-3PmErNqjlFzNY/edi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d/1A1PYtgTb4-dE2KH7xV1LKQFmltm0wZgIQgZFsjOwdpE/edi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7SWzb1nsiwfdZs5F6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ECA8A6-26C7-FE2F-5884-A9A565205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516" y="1433219"/>
            <a:ext cx="5695102" cy="2092049"/>
          </a:xfrm>
        </p:spPr>
        <p:txBody>
          <a:bodyPr/>
          <a:lstStyle/>
          <a:p>
            <a:r>
              <a:rPr lang="en-US"/>
              <a:t>Lab #4</a:t>
            </a:r>
          </a:p>
        </p:txBody>
      </p:sp>
      <p:pic>
        <p:nvPicPr>
          <p:cNvPr id="8" name="Picture Placeholder 7" descr="A green circle with a curled corner">
            <a:extLst>
              <a:ext uri="{FF2B5EF4-FFF2-40B4-BE49-F238E27FC236}">
                <a16:creationId xmlns:a16="http://schemas.microsoft.com/office/drawing/2014/main" id="{8CCCEC06-31A4-216C-78F1-DF37E7A7CC3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/>
          <a:stretch/>
        </p:blipFill>
        <p:spPr>
          <a:xfrm>
            <a:off x="1350099" y="1974707"/>
            <a:ext cx="2907792" cy="2907792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377941-FDA2-9332-B360-A8C72799181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496789" y="3525268"/>
            <a:ext cx="5683829" cy="2595429"/>
          </a:xfrm>
        </p:spPr>
        <p:txBody>
          <a:bodyPr/>
          <a:lstStyle/>
          <a:p>
            <a:r>
              <a:rPr lang="en-US"/>
              <a:t>Odalys, Kyriaki, Sonia, Paulina, Vanessa, Alfina</a:t>
            </a:r>
          </a:p>
          <a:p>
            <a:endParaRPr lang="en-US"/>
          </a:p>
          <a:p>
            <a:r>
              <a:rPr lang="en-US"/>
              <a:t>"The Mastery Makers" </a:t>
            </a:r>
          </a:p>
        </p:txBody>
      </p:sp>
      <p:pic>
        <p:nvPicPr>
          <p:cNvPr id="2" name="Picture 1" descr="A group of people standing next to a computer screen&#10;&#10;AI-generated content may be incorrect.">
            <a:extLst>
              <a:ext uri="{FF2B5EF4-FFF2-40B4-BE49-F238E27FC236}">
                <a16:creationId xmlns:a16="http://schemas.microsoft.com/office/drawing/2014/main" id="{95F8BC40-B64C-54CE-1639-CADF88C43A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1998" y="2069242"/>
            <a:ext cx="2668030" cy="270921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37483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ECDD0-17F6-3312-AE6D-F7EB95E4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924339"/>
            <a:ext cx="3990110" cy="5009322"/>
          </a:xfrm>
        </p:spPr>
        <p:txBody>
          <a:bodyPr/>
          <a:lstStyle/>
          <a:p>
            <a:r>
              <a:rPr lang="en-US"/>
              <a:t>Pre-Test​</a:t>
            </a:r>
            <a:br>
              <a:rPr lang="en-US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36AA5-9DDA-DA9A-5469-6885A5A84D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46793" y="924340"/>
            <a:ext cx="5684373" cy="5009322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3ED464-E5F7-C6F1-3D53-04AFBDB4DCD6}"/>
              </a:ext>
            </a:extLst>
          </p:cNvPr>
          <p:cNvSpPr txBox="1"/>
          <p:nvPr/>
        </p:nvSpPr>
        <p:spPr>
          <a:xfrm>
            <a:off x="5049761" y="928308"/>
            <a:ext cx="628952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635D"/>
                </a:solidFill>
                <a:hlinkClick r:id="rId3"/>
              </a:rPr>
              <a:t>Training pre-test</a:t>
            </a:r>
            <a:endParaRPr lang="en-US" dirty="0">
              <a:solidFill>
                <a:srgbClr val="00635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9076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033EF-4E85-EA01-7F29-C7DAA2185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DF4F6-2107-392E-3725-CCB6BAFC5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935" y="633845"/>
            <a:ext cx="3990110" cy="2192482"/>
          </a:xfrm>
        </p:spPr>
        <p:txBody>
          <a:bodyPr anchor="ctr">
            <a:normAutofit/>
          </a:bodyPr>
          <a:lstStyle/>
          <a:p>
            <a:r>
              <a:rPr lang="en-US"/>
              <a:t>Pre- test goals</a:t>
            </a:r>
            <a:br>
              <a:rPr lang="en-US"/>
            </a:b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2E00D40-9CF5-9BD1-8DF1-488F5BDEF19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93358" y="2774458"/>
            <a:ext cx="3772622" cy="3122360"/>
          </a:xfrm>
          <a:ln w="6350">
            <a:solidFill>
              <a:srgbClr val="F9E0B9"/>
            </a:solidFill>
          </a:ln>
        </p:spPr>
        <p:txBody>
          <a:bodyPr>
            <a:normAutofit lnSpcReduction="10000"/>
          </a:bodyPr>
          <a:lstStyle/>
          <a:p>
            <a:pPr marL="283210" indent="-283210"/>
            <a:r>
              <a:rPr lang="en-US" sz="1400"/>
              <a:t>Our pre-test is a self-assessment of  trainee's communication skills , thus their professional interaction with peers, their ability to write professional emails to different audiences</a:t>
            </a:r>
          </a:p>
          <a:p>
            <a:pPr marL="283210" indent="-283210">
              <a:buClr>
                <a:srgbClr val="00635E"/>
              </a:buClr>
            </a:pPr>
            <a:r>
              <a:rPr lang="en-US" sz="1400"/>
              <a:t>It also serves as a measure of comprehension and recognition of individual strengths and weakness of our trainees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9917957C-90ED-DCD1-6807-74B9147D0C07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182591227"/>
              </p:ext>
            </p:extLst>
          </p:nvPr>
        </p:nvGraphicFramePr>
        <p:xfrm>
          <a:off x="5237732" y="946205"/>
          <a:ext cx="5971020" cy="51616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17966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6B6AE-48C5-A0BA-784F-0BB826147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6381F-D162-6CF7-8627-C1F8C7DEA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924339"/>
            <a:ext cx="3990110" cy="5009322"/>
          </a:xfrm>
        </p:spPr>
        <p:txBody>
          <a:bodyPr/>
          <a:lstStyle/>
          <a:p>
            <a:r>
              <a:rPr lang="en-US"/>
              <a:t>Post-Test​</a:t>
            </a:r>
            <a:br>
              <a:rPr lang="en-US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0758D-A5A0-DFCB-49B0-51753F0B260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46793" y="924340"/>
            <a:ext cx="5684373" cy="5009322"/>
          </a:xfrm>
        </p:spPr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2999A2-BF6E-5BF2-6CFC-D6A4B9F37D4A}"/>
              </a:ext>
            </a:extLst>
          </p:cNvPr>
          <p:cNvSpPr txBox="1"/>
          <p:nvPr/>
        </p:nvSpPr>
        <p:spPr>
          <a:xfrm>
            <a:off x="5049761" y="928308"/>
            <a:ext cx="628952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635D"/>
                </a:solidFill>
                <a:hlinkClick r:id="rId3"/>
              </a:rPr>
              <a:t>Training post-test</a:t>
            </a:r>
            <a:endParaRPr lang="en-US" dirty="0">
              <a:solidFill>
                <a:srgbClr val="00635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273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8FE42-9196-F071-44B3-A960AA59E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0AD6B-F7D4-AE80-6B72-A9489F5D6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935" y="633845"/>
            <a:ext cx="3990110" cy="2192482"/>
          </a:xfrm>
        </p:spPr>
        <p:txBody>
          <a:bodyPr anchor="ctr">
            <a:normAutofit/>
          </a:bodyPr>
          <a:lstStyle/>
          <a:p>
            <a:r>
              <a:rPr lang="en-US"/>
              <a:t>Post- test goals</a:t>
            </a:r>
            <a:br>
              <a:rPr lang="en-US"/>
            </a:b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A53CA28-CB3B-D2CD-55B3-D7B73B70B23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5691" y="2298208"/>
            <a:ext cx="3772622" cy="3122360"/>
          </a:xfrm>
          <a:ln w="6350">
            <a:solidFill>
              <a:srgbClr val="F9E0B9"/>
            </a:solidFill>
          </a:ln>
        </p:spPr>
        <p:txBody>
          <a:bodyPr>
            <a:normAutofit fontScale="92500" lnSpcReduction="10000"/>
          </a:bodyPr>
          <a:lstStyle/>
          <a:p>
            <a:pPr marL="283210" indent="-283210">
              <a:buClr>
                <a:srgbClr val="00635E"/>
              </a:buClr>
            </a:pPr>
            <a:r>
              <a:rPr lang="en-US" sz="1400">
                <a:ea typeface="+mn-lt"/>
                <a:cs typeface="+mn-lt"/>
              </a:rPr>
              <a:t>The post-test serves as an assessment of the knowledge and skills trainees have gained throughout the training. It evaluates their ability to apply online work etiquette principles in real-world scenarios. </a:t>
            </a:r>
            <a:endParaRPr lang="en-US"/>
          </a:p>
          <a:p>
            <a:pPr marL="283210" indent="-283210">
              <a:buClr>
                <a:srgbClr val="00635E"/>
              </a:buClr>
            </a:pPr>
            <a:r>
              <a:rPr lang="en-US" sz="1400"/>
              <a:t>It</a:t>
            </a:r>
            <a:r>
              <a:rPr lang="en-US" sz="1400">
                <a:ea typeface="+mn-lt"/>
                <a:cs typeface="+mn-lt"/>
              </a:rPr>
              <a:t> also helps measure improvements in professional communication, virtual meeting behavior, and overall workplace professionalism in a remote environment. 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F3D1B296-1F70-A70B-CFB6-E72D8A2BB334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939234272"/>
              </p:ext>
            </p:extLst>
          </p:nvPr>
        </p:nvGraphicFramePr>
        <p:xfrm>
          <a:off x="5396482" y="850955"/>
          <a:ext cx="5971020" cy="51616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39014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7740-ED88-9F6A-89FF-4B0DFAAC3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217" y="924167"/>
            <a:ext cx="4383156" cy="5009322"/>
          </a:xfrm>
        </p:spPr>
        <p:txBody>
          <a:bodyPr/>
          <a:lstStyle/>
          <a:p>
            <a:r>
              <a:rPr lang="en-US"/>
              <a:t>Feedback </a:t>
            </a:r>
            <a:br>
              <a:rPr lang="en-US"/>
            </a:b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25282-EE8D-71BA-6317-EECFE33238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75541" y="673992"/>
            <a:ext cx="4876163" cy="5426510"/>
          </a:xfrm>
        </p:spPr>
        <p:txBody>
          <a:bodyPr>
            <a:normAutofit fontScale="92500" lnSpcReduction="20000"/>
          </a:bodyPr>
          <a:lstStyle/>
          <a:p>
            <a:r>
              <a:rPr lang="en-US" b="1">
                <a:ea typeface="+mn-lt"/>
                <a:cs typeface="+mn-lt"/>
              </a:rPr>
              <a:t>Formative Evaluation (Qualitative)</a:t>
            </a:r>
            <a:endParaRPr lang="en-US" b="1"/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Strengths: What worked well in the training? (Content, engagement, relevance)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Weaknesses: What could be improved?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Learning Environment: Was the format effective for learning transfer?</a:t>
            </a:r>
            <a:endParaRPr lang="en-US"/>
          </a:p>
          <a:p>
            <a:r>
              <a:rPr lang="en-US">
                <a:ea typeface="+mn-lt"/>
                <a:cs typeface="+mn-lt"/>
              </a:rPr>
              <a:t>Key Takeaways: What was most/least beneficial and why?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Summative Evaluation (Quantitative)</a:t>
            </a:r>
            <a:endParaRPr lang="en-US" b="1"/>
          </a:p>
          <a:p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Did you understand key netiquette principles? (Rate 1-5)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What specific skills did you gain?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How will you apply this knowledge?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ROI: How has this training improved communication efficiency?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13883D-2DFE-2BE6-02D7-03A78157830A}"/>
              </a:ext>
            </a:extLst>
          </p:cNvPr>
          <p:cNvSpPr txBox="1"/>
          <p:nvPr/>
        </p:nvSpPr>
        <p:spPr>
          <a:xfrm>
            <a:off x="2361388" y="3850980"/>
            <a:ext cx="1547390" cy="3182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Feedback Form</a:t>
            </a:r>
            <a:endParaRPr lang="en-US" sz="1600"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5" name="Picture 4" descr="feedback&quot; Icon - Download for free – Iconduck">
            <a:extLst>
              <a:ext uri="{FF2B5EF4-FFF2-40B4-BE49-F238E27FC236}">
                <a16:creationId xmlns:a16="http://schemas.microsoft.com/office/drawing/2014/main" id="{94F2FF49-3A15-F6D1-2138-F8DEECD929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6291" y="1712934"/>
            <a:ext cx="1020871" cy="1010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9247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381587_Win32_SL_v6" id="{5005B820-A0B7-49EA-8569-DCF0CD2DBB9D}" vid="{2E48C80D-E25D-44C4-BCFD-F1465E9B61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F54F928-5808-4F9A-8810-B3FD2A0264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695BEB-4861-4F57-B47B-7156F618DFD8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E96C45C-DB75-420E-8AF3-E934CE3B8485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403</Words>
  <Application>Microsoft Office PowerPoint</Application>
  <PresentationFormat>Widescreen</PresentationFormat>
  <Paragraphs>47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Calibri</vt:lpstr>
      <vt:lpstr>Century Gothic</vt:lpstr>
      <vt:lpstr>Wingdings 2</vt:lpstr>
      <vt:lpstr>Quotable</vt:lpstr>
      <vt:lpstr>Lab #4</vt:lpstr>
      <vt:lpstr>Pre-Test​ </vt:lpstr>
      <vt:lpstr>Pre- test goals </vt:lpstr>
      <vt:lpstr>Post-Test​ </vt:lpstr>
      <vt:lpstr>Post- test goals </vt:lpstr>
      <vt:lpstr>Feedback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Adjo Tetedje</cp:lastModifiedBy>
  <cp:revision>2</cp:revision>
  <dcterms:created xsi:type="dcterms:W3CDTF">2025-02-27T21:45:54Z</dcterms:created>
  <dcterms:modified xsi:type="dcterms:W3CDTF">2025-04-18T16:45:02Z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